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33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233187"/>
                </a:solidFill>
                <a:latin typeface="Calibri"/>
              </a:rPr>
              <a:t>Regional Anaesthesia Failure in 5080 Caesarean Sections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FD1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510528"/>
            <a:ext cx="1179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1">
                <a:solidFill>
                  <a:srgbClr val="233187"/>
                </a:solidFill>
                <a:latin typeface="Calibri"/>
              </a:rPr>
              <a:t>Kinsella SM, Anaesthesia 2008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7498079" cy="5212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210312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1A1A1A"/>
                </a:solidFill>
                <a:latin typeface="Calibri"/>
              </a:rPr>
              <a:t>Category 1 CS carries a 5% conversion rate to GA — nearly 6× higher than elective cases.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33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233187"/>
                </a:solidFill>
                <a:latin typeface="Calibri"/>
              </a:rPr>
              <a:t>Neuraxial Failure Rate by Anaesthetic Technique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FD1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510528"/>
            <a:ext cx="1179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1">
                <a:solidFill>
                  <a:srgbClr val="233187"/>
                </a:solidFill>
                <a:latin typeface="Calibri"/>
              </a:rPr>
              <a:t>Kinsella SM, Anaesthesia 2008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05840"/>
            <a:ext cx="7132320" cy="502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80960" y="210312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1A1A1A"/>
                </a:solidFill>
                <a:latin typeface="Calibri"/>
              </a:rPr>
              <a:t>Epidural top-up carries the highest failure rate (13.2%); CSE is the most reliable neuraxial technique.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33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233187"/>
                </a:solidFill>
                <a:latin typeface="Calibri"/>
              </a:rPr>
              <a:t>Neuraxial Success vs. GA Conversion: All 5080 Cases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FD1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510528"/>
            <a:ext cx="1179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1">
                <a:solidFill>
                  <a:srgbClr val="233187"/>
                </a:solidFill>
                <a:latin typeface="Calibri"/>
              </a:rPr>
              <a:t>Kinsella SM, Anaesthesia 2008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7772400" cy="5303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321040" y="201168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1A1A1A"/>
                </a:solidFill>
                <a:latin typeface="Calibri"/>
              </a:rPr>
              <a:t>Neuraxial anaesthesia was overwhelmingly successful in elective cases; GA conversions clustered in the most urgent emergencies.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33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233187"/>
                </a:solidFill>
                <a:latin typeface="Calibri"/>
              </a:rPr>
              <a:t>Causes of Regional Anaesthesia Failure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FD1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510528"/>
            <a:ext cx="1179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1">
                <a:solidFill>
                  <a:srgbClr val="233187"/>
                </a:solidFill>
                <a:latin typeface="Calibri"/>
              </a:rPr>
              <a:t>Kinsella SM, Anaesthesia 2008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6858000" cy="5303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98079" y="210312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1A1A1A"/>
                </a:solidFill>
                <a:latin typeface="Calibri"/>
              </a:rPr>
              <a:t>Inadequate block height accounts for over a third of all failures; patchy and unilateral blocks are also common.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33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233187"/>
                </a:solidFill>
                <a:latin typeface="Calibri"/>
              </a:rPr>
              <a:t>Inadequate Neuraxial Anaesthesia: Prevalence Across 54 RCTs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FD1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510528"/>
            <a:ext cx="1179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1">
                <a:solidFill>
                  <a:srgbClr val="233187"/>
                </a:solidFill>
                <a:latin typeface="Calibri"/>
              </a:rPr>
              <a:t>Patel R, Anaesthesia 2022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7772400" cy="5303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321040" y="210312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1A1A1A"/>
                </a:solidFill>
                <a:latin typeface="Calibri"/>
              </a:rPr>
              <a:t>1 in 7 women required supplemental analgesia during elective CS — even with optimal (≥ED95) neuraxial dosing.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33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233187"/>
                </a:solidFill>
                <a:latin typeface="Calibri"/>
              </a:rPr>
              <a:t>Spinal/CSE vs. Epidural: Rate of Inadequate Anaesthesia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FD1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510528"/>
            <a:ext cx="1179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1">
                <a:solidFill>
                  <a:srgbClr val="233187"/>
                </a:solidFill>
                <a:latin typeface="Calibri"/>
              </a:rPr>
              <a:t>Patel R, Anaesthesia 2022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914400"/>
            <a:ext cx="6858000" cy="5303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863840" y="228600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1A1A1A"/>
                </a:solidFill>
                <a:latin typeface="Calibri"/>
              </a:rPr>
              <a:t>Epidural anaesthesia is 3× more likely to require supplementation than spinal or CSE (30.3% vs. 10.2%).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33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233187"/>
                </a:solidFill>
                <a:latin typeface="Calibri"/>
              </a:rPr>
              <a:t>Type of Supplemental Intervention by Neuraxial Technique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FD1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510528"/>
            <a:ext cx="1179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1">
                <a:solidFill>
                  <a:srgbClr val="233187"/>
                </a:solidFill>
                <a:latin typeface="Calibri"/>
              </a:rPr>
              <a:t>Patel R, Anaesthesia 2022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8046720" cy="5303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95360" y="2011680"/>
            <a:ext cx="3383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1A1A1A"/>
                </a:solidFill>
                <a:latin typeface="Calibri"/>
              </a:rPr>
              <a:t>Epidural technique shows excess supplementation across all categories, especially 'other' (16.5%) vs. spinal (4.3%).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33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233187"/>
                </a:solidFill>
                <a:latin typeface="Calibri"/>
              </a:rPr>
              <a:t>Systematic Review: Literature Search and Selection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FD1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510528"/>
            <a:ext cx="1179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1">
                <a:solidFill>
                  <a:srgbClr val="233187"/>
                </a:solidFill>
                <a:latin typeface="Calibri"/>
              </a:rPr>
              <a:t>Patel R, Anaesthesia 2022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7772400" cy="5486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321040" y="228600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1A1A1A"/>
                </a:solidFill>
                <a:latin typeface="Calibri"/>
              </a:rPr>
              <a:t>Only RCTs using ≥ED95 neuraxial doses were included — ensuring the highest-quality evidence base for prevalence estimates.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33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233187"/>
                </a:solidFill>
                <a:latin typeface="Calibri"/>
              </a:rPr>
              <a:t>National Trends in General Anaesthesia for Caesarean Delivery: USA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FD1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510528"/>
            <a:ext cx="1179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1">
                <a:solidFill>
                  <a:srgbClr val="233187"/>
                </a:solidFill>
                <a:latin typeface="Calibri"/>
              </a:rPr>
              <a:t>Juang P, Anesthesiology 2017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8229600" cy="5303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778240" y="201168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1A1A1A"/>
                </a:solidFill>
                <a:latin typeface="Calibri"/>
              </a:rPr>
              <a:t>US national GA rates for CS fell by two-thirds over 17 years — driven by anaesthesia training, epidural uptake, and patient safety initiatives.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33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233187"/>
                </a:solidFill>
                <a:latin typeface="Calibri"/>
              </a:rPr>
              <a:t>General Anaesthesia Rates by Hospital Type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FD1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510528"/>
            <a:ext cx="1179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1">
                <a:solidFill>
                  <a:srgbClr val="233187"/>
                </a:solidFill>
                <a:latin typeface="Calibri"/>
              </a:rPr>
              <a:t>Juang P, Anesthesiology 2017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914400"/>
            <a:ext cx="7132320" cy="5303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228600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1A1A1A"/>
                </a:solidFill>
                <a:latin typeface="Calibri"/>
              </a:rPr>
              <a:t>Rural hospitals have twice the GA rate of academic centres, reflecting workforce and resource disparities across the healthcare system.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33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233187"/>
                </a:solidFill>
                <a:latin typeface="Calibri"/>
              </a:rPr>
              <a:t>Risk Factors for General Anaesthesia: Adjusted Odds Ratios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FD1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510528"/>
            <a:ext cx="1179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1">
                <a:solidFill>
                  <a:srgbClr val="233187"/>
                </a:solidFill>
                <a:latin typeface="Calibri"/>
              </a:rPr>
              <a:t>Juang P, Anesthesiology 2017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8229600" cy="5303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778240" y="228600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1A1A1A"/>
                </a:solidFill>
                <a:latin typeface="Calibri"/>
              </a:rPr>
              <a:t>Emergency CS is the dominant risk factor; absence of a functioning labour epidural is the largest modifiable risk for GA.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33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233187"/>
                </a:solidFill>
                <a:latin typeface="Calibri"/>
              </a:rPr>
              <a:t>GA Rate: Elective vs. Emergency Caesarean Delivery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FD1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510528"/>
            <a:ext cx="1179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1">
                <a:solidFill>
                  <a:srgbClr val="233187"/>
                </a:solidFill>
                <a:latin typeface="Calibri"/>
              </a:rPr>
              <a:t>Juang P, Anesthesiology 2017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914400"/>
            <a:ext cx="6400800" cy="5303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12480" y="228600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1A1A1A"/>
                </a:solidFill>
                <a:latin typeface="Calibri"/>
              </a:rPr>
              <a:t>Emergency CS carries an 8-fold higher GA rate than elective — underscoring the role of planning, preanesthesia assessment, and labour epidural.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33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233187"/>
                </a:solidFill>
                <a:latin typeface="Calibri"/>
              </a:rPr>
              <a:t>Anaesthetic Techniques for CS: National UK Survey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FD1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510528"/>
            <a:ext cx="1179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1">
                <a:solidFill>
                  <a:srgbClr val="233187"/>
                </a:solidFill>
                <a:latin typeface="Calibri"/>
              </a:rPr>
              <a:t>Shibli K, RCoA National Audit 2019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6858000" cy="5303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98079" y="228600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1A1A1A"/>
                </a:solidFill>
                <a:latin typeface="Calibri"/>
              </a:rPr>
              <a:t>Spinal anaesthesia dominates UK practice (72%); GA represents 5% — used for contraindications and failed neuraxial techniques.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33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233187"/>
                </a:solidFill>
                <a:latin typeface="Calibri"/>
              </a:rPr>
              <a:t>Trends in Anaesthetic Technique: UK Surveys 1997–2019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FD1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510528"/>
            <a:ext cx="1179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1">
                <a:solidFill>
                  <a:srgbClr val="233187"/>
                </a:solidFill>
                <a:latin typeface="Calibri"/>
              </a:rPr>
              <a:t>Shibli K, RCoA National Audit 2019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8229600" cy="5303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778240" y="201168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1A1A1A"/>
                </a:solidFill>
                <a:latin typeface="Calibri"/>
              </a:rPr>
              <a:t>Spinal use has risen steadily; GA rates have halved from 12% to 5% — representing a major patient safety improvement over two decades.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33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233187"/>
                </a:solidFill>
                <a:latin typeface="Calibri"/>
              </a:rPr>
              <a:t>GA Rate by Obstetric Unit Volume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FD1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510528"/>
            <a:ext cx="1179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1">
                <a:solidFill>
                  <a:srgbClr val="233187"/>
                </a:solidFill>
                <a:latin typeface="Calibri"/>
              </a:rPr>
              <a:t>Shibli K, RCoA National Audit 2019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7772400" cy="5303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321040" y="228600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1A1A1A"/>
                </a:solidFill>
                <a:latin typeface="Calibri"/>
              </a:rPr>
              <a:t>High-volume units consistently achieve lower GA rates — reflecting the protective effect of specialist obstetric anaesthesia expertise.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33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233187"/>
                </a:solidFill>
                <a:latin typeface="Calibri"/>
              </a:rPr>
              <a:t>Anaesthetic Technique by Urgency of Caesarean Section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FD1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510528"/>
            <a:ext cx="1179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1">
                <a:solidFill>
                  <a:srgbClr val="233187"/>
                </a:solidFill>
                <a:latin typeface="Calibri"/>
              </a:rPr>
              <a:t>Shibli K, RCoA National Audit 2019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8046720" cy="5303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95360" y="2011680"/>
            <a:ext cx="3383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1A1A1A"/>
                </a:solidFill>
                <a:latin typeface="Calibri"/>
              </a:rPr>
              <a:t>GA is used in ~30% of Category 1 cases; as urgency falls, spinal becomes dominant — highlighting the importance of pre-existing neuraxial access.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33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233187"/>
                </a:solidFill>
                <a:latin typeface="Calibri"/>
              </a:rPr>
              <a:t>40 Years of Change: GA Rates for Caesarean Delivery in the UK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FD1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510528"/>
            <a:ext cx="1179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1">
                <a:solidFill>
                  <a:srgbClr val="233187"/>
                </a:solidFill>
                <a:latin typeface="Calibri"/>
              </a:rPr>
              <a:t>OAA/AAGBI Workforce Survey, 2021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05840"/>
            <a:ext cx="9144000" cy="5303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509760" y="2286000"/>
            <a:ext cx="2468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1A1A1A"/>
                </a:solidFill>
                <a:latin typeface="Calibri"/>
              </a:rPr>
              <a:t>GA fell from ~70% in the 1980s to &lt;5% by 2020 — one of the most dramatic patient safety transformations in modern anaesthesia.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33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233187"/>
                </a:solidFill>
                <a:latin typeface="Calibri"/>
              </a:rPr>
              <a:t>Neuraxial Anaesthesia: From Minority to Standard of Care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FD1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510528"/>
            <a:ext cx="1179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1">
                <a:solidFill>
                  <a:srgbClr val="233187"/>
                </a:solidFill>
                <a:latin typeface="Calibri"/>
              </a:rPr>
              <a:t>OAA/AAGBI Workforce Survey, 2021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914400"/>
            <a:ext cx="7315200" cy="5303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0" y="228600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1A1A1A"/>
                </a:solidFill>
                <a:latin typeface="Calibri"/>
              </a:rPr>
              <a:t>By the 2020s, neuraxial anaesthesia is standard of care for CS, with GA reserved for absolute contraindications.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33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233187"/>
                </a:solidFill>
                <a:latin typeface="Calibri"/>
              </a:rPr>
              <a:t>Decline in Anaesthesia-Related Maternal Mortality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FD1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510528"/>
            <a:ext cx="1179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1">
                <a:solidFill>
                  <a:srgbClr val="233187"/>
                </a:solidFill>
                <a:latin typeface="Calibri"/>
              </a:rPr>
              <a:t>OAA/AAGBI Workforce Survey, 2021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8229600" cy="5303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778240" y="228600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1A1A1A"/>
                </a:solidFill>
                <a:latin typeface="Calibri"/>
              </a:rPr>
              <a:t>Anaesthesia-related maternal mortality has fallen 17-fold over 40 years, tracking the rise of neuraxial techniques.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33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233187"/>
                </a:solidFill>
                <a:latin typeface="Calibri"/>
              </a:rPr>
              <a:t>Obstetric Anaesthesia Workforce Growth Over 40 Years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FD1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510528"/>
            <a:ext cx="1179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1">
                <a:solidFill>
                  <a:srgbClr val="233187"/>
                </a:solidFill>
                <a:latin typeface="Calibri"/>
              </a:rPr>
              <a:t>OAA/AAGBI Workforce Survey, 2021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8229600" cy="5303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778240" y="228600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1A1A1A"/>
                </a:solidFill>
                <a:latin typeface="Calibri"/>
              </a:rPr>
              <a:t>The specialist obstetric anaesthesia workforce has grown 8-fold over 40 years — the structural foundation of the shift away from GA.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33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233187"/>
                </a:solidFill>
                <a:latin typeface="Calibri"/>
              </a:rPr>
              <a:t>Patient-Reported Intraoperative Pain During Caesarean Delivery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FD1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510528"/>
            <a:ext cx="1179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1">
                <a:solidFill>
                  <a:srgbClr val="233187"/>
                </a:solidFill>
                <a:latin typeface="Calibri"/>
              </a:rPr>
              <a:t>Charles LF, Anesthesiology 2024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8046720" cy="5303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95360" y="2103120"/>
            <a:ext cx="3383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1A1A1A"/>
                </a:solidFill>
                <a:latin typeface="Calibri"/>
              </a:rPr>
              <a:t>31.6% of women report pain during CS; 4.7% experience severe pain (NRS ≥7) despite neuraxial anaesthesia.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33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233187"/>
                </a:solidFill>
                <a:latin typeface="Calibri"/>
              </a:rPr>
              <a:t>Risk Factors for Intraoperative Pain During CS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FD1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510528"/>
            <a:ext cx="1179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1">
                <a:solidFill>
                  <a:srgbClr val="233187"/>
                </a:solidFill>
                <a:latin typeface="Calibri"/>
              </a:rPr>
              <a:t>Charles LF, Anesthesiology 2024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8046720" cy="5303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95360" y="2286000"/>
            <a:ext cx="3383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1A1A1A"/>
                </a:solidFill>
                <a:latin typeface="Calibri"/>
              </a:rPr>
              <a:t>Epidural anaesthesia and emergency surgery are the strongest independent risk factors for patient-reported intraoperative pain.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33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233187"/>
                </a:solidFill>
                <a:latin typeface="Calibri"/>
              </a:rPr>
              <a:t>Intraoperative Pain: Timing by Surgical Phase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FD1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510528"/>
            <a:ext cx="1179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1">
                <a:solidFill>
                  <a:srgbClr val="233187"/>
                </a:solidFill>
                <a:latin typeface="Calibri"/>
              </a:rPr>
              <a:t>Charles LF, Anesthesiology 2024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8229600" cy="5303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778240" y="228600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1A1A1A"/>
                </a:solidFill>
                <a:latin typeface="Calibri"/>
              </a:rPr>
              <a:t>Pain peaks during uterine closure — the most under-recognised phase of surgery for patient discomfort.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33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233187"/>
                </a:solidFill>
                <a:latin typeface="Calibri"/>
              </a:rPr>
              <a:t>Intraoperative Pain and Maternal Outcomes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FD1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510528"/>
            <a:ext cx="1179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1">
                <a:solidFill>
                  <a:srgbClr val="233187"/>
                </a:solidFill>
                <a:latin typeface="Calibri"/>
              </a:rPr>
              <a:t>Charles LF, Anesthesiology 2024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8046720" cy="5303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95360" y="2286000"/>
            <a:ext cx="3383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1A1A1A"/>
                </a:solidFill>
                <a:latin typeface="Calibri"/>
              </a:rPr>
              <a:t>Moderate-to-severe pain halves patient satisfaction and is associated with a 9-fold increase in post-traumatic symptoms.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33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233187"/>
                </a:solidFill>
                <a:latin typeface="Calibri"/>
              </a:rPr>
              <a:t>Incidence of Intraoperative Pain During CS: National Study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FD1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510528"/>
            <a:ext cx="1179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1">
                <a:solidFill>
                  <a:srgbClr val="233187"/>
                </a:solidFill>
                <a:latin typeface="Calibri"/>
              </a:rPr>
              <a:t>O'Carroll JE, Anesthesiology 2025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914400"/>
            <a:ext cx="7315200" cy="5303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0" y="228600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1A1A1A"/>
                </a:solidFill>
                <a:latin typeface="Calibri"/>
              </a:rPr>
              <a:t>37.7% of women experience intraoperative CS pain; &gt;1 in 20 report severe pain — representing hundreds of thousands globally each year.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33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233187"/>
                </a:solidFill>
                <a:latin typeface="Calibri"/>
              </a:rPr>
              <a:t>Predictors of Severe Intraoperative Pain: Adjusted Odds Ratios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FD1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510528"/>
            <a:ext cx="1179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1">
                <a:solidFill>
                  <a:srgbClr val="233187"/>
                </a:solidFill>
                <a:latin typeface="Calibri"/>
              </a:rPr>
              <a:t>O'Carroll JE, Anesthesiology 2025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8046720" cy="5303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95360" y="2286000"/>
            <a:ext cx="3383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1A1A1A"/>
                </a:solidFill>
                <a:latin typeface="Calibri"/>
              </a:rPr>
              <a:t>Epidural top-up is the strongest predictor of severe pain — reinforcing the benefit of a primary spinal or well-functioning epidural.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33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233187"/>
                </a:solidFill>
                <a:latin typeface="Calibri"/>
              </a:rPr>
              <a:t>Intraoperative CS Pain and Postnatal Outcomes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FD1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510528"/>
            <a:ext cx="1179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1">
                <a:solidFill>
                  <a:srgbClr val="233187"/>
                </a:solidFill>
                <a:latin typeface="Calibri"/>
              </a:rPr>
              <a:t>O'Carroll JE, Anesthesiology 2025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8046720" cy="5303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95360" y="2286000"/>
            <a:ext cx="3383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1A1A1A"/>
                </a:solidFill>
                <a:latin typeface="Calibri"/>
              </a:rPr>
              <a:t>Severe intraoperative pain is associated with a 3.5-fold increase in postpartum depression and 4-fold increase in poor infant bonding.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33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233187"/>
                </a:solidFill>
                <a:latin typeface="Calibri"/>
              </a:rPr>
              <a:t>Reported Intraoperative Pain Has NOT Declined: 2010–2024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FD1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510528"/>
            <a:ext cx="1179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1">
                <a:solidFill>
                  <a:srgbClr val="233187"/>
                </a:solidFill>
                <a:latin typeface="Calibri"/>
              </a:rPr>
              <a:t>O'Carroll JE, Anesthesiology 2025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8229600" cy="5303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778240" y="228600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1A1A1A"/>
                </a:solidFill>
                <a:latin typeface="Calibri"/>
              </a:rPr>
              <a:t>Unlike GA rates, the incidence of intraoperative CS pain has not fallen over 15 years — an unresolved quality gap in obstetric care.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33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233187"/>
                </a:solidFill>
                <a:latin typeface="Calibri"/>
              </a:rPr>
              <a:t>What Proportion of General Anaesthetics for CS are Avoidable?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FD1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510528"/>
            <a:ext cx="1179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1">
                <a:solidFill>
                  <a:srgbClr val="233187"/>
                </a:solidFill>
                <a:latin typeface="Calibri"/>
              </a:rPr>
              <a:t>Guglielminotti J, Anesthesiology 2019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914400"/>
            <a:ext cx="6400800" cy="5486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06640" y="228600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1A1A1A"/>
                </a:solidFill>
                <a:latin typeface="Calibri"/>
              </a:rPr>
              <a:t>An estimated 62% of GAs for CS are potentially avoidable with better preparation, adequate epidural access in labour, and specialist staffing.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33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233187"/>
                </a:solidFill>
                <a:latin typeface="Calibri"/>
              </a:rPr>
              <a:t>Risk Factors for Avoidable GA: Adjusted Odds Ratios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FD1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510528"/>
            <a:ext cx="1179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1">
                <a:solidFill>
                  <a:srgbClr val="233187"/>
                </a:solidFill>
                <a:latin typeface="Calibri"/>
              </a:rPr>
              <a:t>Guglielminotti J, Anesthesiology 2019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8046720" cy="5303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95360" y="2286000"/>
            <a:ext cx="3383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1A1A1A"/>
                </a:solidFill>
                <a:latin typeface="Calibri"/>
              </a:rPr>
              <a:t>Absence of a functioning labour epidural is the most powerful avoidable risk factor — reinforcing the value of early epidural analgesia.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33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233187"/>
                </a:solidFill>
                <a:latin typeface="Calibri"/>
              </a:rPr>
              <a:t>Maternal Complication Rates: GA vs. Neuraxial Anaesthesia for CS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FD1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510528"/>
            <a:ext cx="1179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1">
                <a:solidFill>
                  <a:srgbClr val="233187"/>
                </a:solidFill>
                <a:latin typeface="Calibri"/>
              </a:rPr>
              <a:t>Guglielminotti J, Anesthesiology 2019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8046720" cy="5303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95360" y="2286000"/>
            <a:ext cx="3383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1A1A1A"/>
                </a:solidFill>
                <a:latin typeface="Calibri"/>
              </a:rPr>
              <a:t>GA for CS carries substantially higher complication rates — every avoidable GA prevented reduces maternal risk.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33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233187"/>
                </a:solidFill>
                <a:latin typeface="Calibri"/>
              </a:rPr>
              <a:t>System-Level Factors Contributing to Avoidable GA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FD1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510528"/>
            <a:ext cx="1179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1">
                <a:solidFill>
                  <a:srgbClr val="233187"/>
                </a:solidFill>
                <a:latin typeface="Calibri"/>
              </a:rPr>
              <a:t>Guglielminotti J, Anesthesiology 2019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8046720" cy="5303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95360" y="2286000"/>
            <a:ext cx="3383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1A1A1A"/>
                </a:solidFill>
                <a:latin typeface="Calibri"/>
              </a:rPr>
              <a:t>44% of avoidable GAs stem from no functioning epidural — making epidural maintenance a core patient safety priority in labour.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33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233187"/>
                </a:solidFill>
                <a:latin typeface="Calibri"/>
              </a:rPr>
              <a:t>Intraoperative CS Pain: A Global Patient Safety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FD1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510528"/>
            <a:ext cx="1179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1">
                <a:solidFill>
                  <a:srgbClr val="233187"/>
                </a:solidFill>
                <a:latin typeface="Calibri"/>
              </a:rPr>
              <a:t>Sultan P &amp; Landau R, Int J Obstet Anesth 2025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8229600" cy="5303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778240" y="201168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1A1A1A"/>
                </a:solidFill>
                <a:latin typeface="Calibri"/>
              </a:rPr>
              <a:t>Over 6 million women may experience pain during CS each year globally — one of the most common preventable surgical harms in medicine.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33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233187"/>
                </a:solidFill>
                <a:latin typeface="Calibri"/>
              </a:rPr>
              <a:t>The Clinical Management Gap: Pain During CS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FD1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510528"/>
            <a:ext cx="1179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1">
                <a:solidFill>
                  <a:srgbClr val="233187"/>
                </a:solidFill>
                <a:latin typeface="Calibri"/>
              </a:rPr>
              <a:t>Sultan P &amp; Landau R, Int J Obstet Anesth 2025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8046720" cy="5303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95360" y="2286000"/>
            <a:ext cx="3383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1A1A1A"/>
                </a:solidFill>
                <a:latin typeface="Calibri"/>
              </a:rPr>
              <a:t>Most obstetric units lack guidelines, standardised definitions, and treatment protocols for pain during CS — a critical unmet need.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33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233187"/>
                </a:solidFill>
                <a:latin typeface="Calibri"/>
              </a:rPr>
              <a:t>A Framework for Preventing and Managing Intraoperative CS Pain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FD1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510528"/>
            <a:ext cx="1179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1">
                <a:solidFill>
                  <a:srgbClr val="233187"/>
                </a:solidFill>
                <a:latin typeface="Calibri"/>
              </a:rPr>
              <a:t>Sultan P &amp; Landau R, Int J Obstet Anesth 2025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1143000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33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233187"/>
                </a:solidFill>
                <a:latin typeface="Calibri"/>
              </a:rPr>
              <a:t>Priority Research Agenda: Intraoperative CS Pain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FD1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510528"/>
            <a:ext cx="1179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1">
                <a:solidFill>
                  <a:srgbClr val="233187"/>
                </a:solidFill>
                <a:latin typeface="Calibri"/>
              </a:rPr>
              <a:t>Sultan P &amp; Landau R, Int J Obstet Anesth 2025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1143000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33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233187"/>
                </a:solidFill>
                <a:latin typeface="Calibri"/>
              </a:rPr>
              <a:t>Are We Finally Tackling CS Pain? — Historical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FD1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510528"/>
            <a:ext cx="1179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1">
                <a:solidFill>
                  <a:srgbClr val="233187"/>
                </a:solidFill>
                <a:latin typeface="Calibri"/>
              </a:rPr>
              <a:t>Landau R &amp; Janvier AS, Anaesth Crit Care Pain Med 2021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8686800" cy="5303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235440" y="2286000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1A1A1A"/>
                </a:solidFill>
                <a:latin typeface="Calibri"/>
              </a:rPr>
              <a:t>Despite 40 years of growing awareness, standardised management of intraoperative CS pain was absent from most guidelines until 2021.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33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233187"/>
                </a:solidFill>
                <a:latin typeface="Calibri"/>
              </a:rPr>
              <a:t>French Practice Bulletin: A Model for Global Adoption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FD1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510528"/>
            <a:ext cx="1179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1">
                <a:solidFill>
                  <a:srgbClr val="233187"/>
                </a:solidFill>
                <a:latin typeface="Calibri"/>
              </a:rPr>
              <a:t>Landau R &amp; Janvier AS, Anaesth Crit Care Pain Med 2021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1143000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33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233187"/>
                </a:solidFill>
                <a:latin typeface="Calibri"/>
              </a:rPr>
              <a:t>Informing Patients: The Consent Challenge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FD1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510528"/>
            <a:ext cx="1179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1">
                <a:solidFill>
                  <a:srgbClr val="233187"/>
                </a:solidFill>
                <a:latin typeface="Calibri"/>
              </a:rPr>
              <a:t>Landau R &amp; Janvier AS, Anaesth Crit Care Pain Med 2021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8046720" cy="5303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95360" y="2286000"/>
            <a:ext cx="3383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1A1A1A"/>
                </a:solidFill>
                <a:latin typeface="Calibri"/>
              </a:rPr>
              <a:t>Most women are unprepared for intraoperative CS pain, and structured intraoperative pain assessment is absent from most clinical units.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33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233187"/>
                </a:solidFill>
                <a:latin typeface="Calibri"/>
              </a:rPr>
              <a:t>Priorities for Improving CS Anaesthesia Quality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FD1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510528"/>
            <a:ext cx="1179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1">
                <a:solidFill>
                  <a:srgbClr val="233187"/>
                </a:solidFill>
                <a:latin typeface="Calibri"/>
              </a:rPr>
              <a:t>Landau R &amp; Janvier AS, Anaesth Crit Care Pain Med 2021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8046720" cy="5303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95360" y="2286000"/>
            <a:ext cx="3383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1A1A1A"/>
                </a:solidFill>
                <a:latin typeface="Calibri"/>
              </a:rPr>
              <a:t>Expert consensus identifies national guidelines and standardised intraoperative monitoring as the highest-priority actions to improve CS pain management.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